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2A56"/>
          </a:solidFill>
          <a:ln w="12700">
            <a:solidFill>
              <a:srgbClr val="0D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474720" cy="3474720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3200400"/>
            <a:ext cx="2286000" cy="2286000"/>
          </a:xfrm>
          <a:prstGeom prst="ellipse">
            <a:avLst/>
          </a:prstGeom>
          <a:solidFill>
            <a:srgbClr val="162F58"/>
          </a:solidFill>
          <a:ln w="12700">
            <a:solidFill>
              <a:srgbClr val="162F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73152" cy="1645920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A8C4F0"/>
                </a:solidFill>
              </a:rPr>
              <a:t>COMPANY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PROFILE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AB00"/>
                </a:solidFill>
              </a:rPr>
              <a:t>Amias Technologies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F0"/>
                </a:solidFill>
              </a:rPr>
              <a:t>Information Technology Services Provider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2286000" cy="1828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4F0"/>
                </a:solidFill>
              </a:rPr>
              <a:t>Smart IT. Real Solutions.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info@amiastechnologies.com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E8F0FE">
              <a:alpha val="60000"/>
            </a:srgbClr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91440"/>
            <a:ext cx="1828800" cy="1828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00" y="2926080"/>
            <a:ext cx="4114800" cy="4114800"/>
          </a:xfrm>
          <a:prstGeom prst="ellipse">
            <a:avLst/>
          </a:prstGeom>
          <a:solidFill>
            <a:srgbClr val="E8F0FE">
              <a:alpha val="60000"/>
            </a:srgbClr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2011680" y="3474720"/>
            <a:ext cx="3200400" cy="3200400"/>
          </a:xfrm>
          <a:prstGeom prst="ellipse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3C"/>
                </a:solidFill>
              </a:rPr>
              <a:t>TABLE OF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73E8"/>
                </a:solidFill>
              </a:rPr>
              <a:t>CONTENTS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2560320" cy="3657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444752"/>
            <a:ext cx="329184" cy="329184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3E8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50976" y="1463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About Company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084832"/>
            <a:ext cx="329184" cy="329184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84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3E8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50976" y="2103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Vision &amp; Mission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24912"/>
            <a:ext cx="329184" cy="329184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3E8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50976" y="2743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Core Values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364992"/>
            <a:ext cx="329184" cy="329184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3E8"/>
                </a:solidFill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50976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Our Services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005072"/>
            <a:ext cx="329184" cy="329184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3E8"/>
                </a:solidFill>
              </a:rPr>
              <a:t>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50976" y="4023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Why Choose Us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444752"/>
            <a:ext cx="329184" cy="329184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3E8"/>
                </a:solidFill>
              </a:rPr>
              <a:t>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57216" y="1463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Our Process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084832"/>
            <a:ext cx="329184" cy="329184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084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3E8"/>
                </a:solidFill>
              </a:rPr>
              <a:t>07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57216" y="2103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Goals &amp; Objectives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724912"/>
            <a:ext cx="329184" cy="329184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3E8"/>
                </a:solidFill>
              </a:rPr>
              <a:t>08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57216" y="2743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Market Focus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364992"/>
            <a:ext cx="329184" cy="329184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3E8"/>
                </a:solidFill>
              </a:rPr>
              <a:t>09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57216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4005072"/>
            <a:ext cx="329184" cy="329184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3E8"/>
                </a:solidFill>
              </a:rPr>
              <a:t>10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57216" y="4023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Contact Us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864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Amias Technologies  |  Smart IT. Real Solutions.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503920" y="4864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E8F0FE">
              <a:alpha val="60000"/>
            </a:srgbClr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91440"/>
            <a:ext cx="1828800" cy="1828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20040"/>
            <a:ext cx="1371600" cy="256032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</a:rPr>
              <a:t>WHO WE ARE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3C"/>
                </a:solidFill>
              </a:rPr>
              <a:t>About Company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2926080" cy="3657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258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F6368"/>
                </a:solidFill>
              </a:rPr>
              <a:t>Amias Technologies is a modern IT solutions company dedicated to delivering reliable, secure, and scalable digital services to businesses and individuals across Zambia and beyond.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F6368"/>
                </a:solidFill>
              </a:rPr>
              <a:t>We specialise in software development, cybersecurity, networking, IT consulting, and digital transformation — empowering our clients to operate efficiently, competitively, and confidently in today's digital world.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55448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490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AB00"/>
                </a:solidFill>
              </a:rPr>
              <a:t>7+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4224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F0"/>
                </a:solidFill>
              </a:rPr>
              <a:t>Services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31720" y="3703320"/>
            <a:ext cx="155448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37490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AB00"/>
                </a:solidFill>
              </a:rPr>
              <a:t>100%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331720" y="4224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F0"/>
                </a:solidFill>
              </a:rPr>
              <a:t>Client Focus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0" y="3703320"/>
            <a:ext cx="155448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37490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AB00"/>
                </a:solidFill>
              </a:rPr>
              <a:t>24/7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14800" y="4224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F0"/>
                </a:solidFill>
              </a:rPr>
              <a:t>Support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52160" y="822960"/>
            <a:ext cx="2926080" cy="3291840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371600"/>
            <a:ext cx="1645920" cy="1645920"/>
          </a:xfrm>
          <a:prstGeom prst="ellipse">
            <a:avLst/>
          </a:prstGeom>
          <a:solidFill>
            <a:srgbClr val="1A73E8">
              <a:alpha val="2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1920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F3C"/>
                </a:solidFill>
              </a:rPr>
              <a:t>AMIAS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D1F3C"/>
                </a:solidFill>
              </a:rPr>
              <a:t>TECH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85216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368"/>
                </a:solidFill>
              </a:rPr>
              <a:t>Zambia's IT Partner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Amias Technologies  |  Smart IT. Real Solutions.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D2A56"/>
          </a:solidFill>
          <a:ln w="12700">
            <a:solidFill>
              <a:srgbClr val="0D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-731520"/>
            <a:ext cx="3200400" cy="3200400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162F58"/>
          </a:solidFill>
          <a:ln w="12700">
            <a:solidFill>
              <a:srgbClr val="162F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005840"/>
            <a:ext cx="1371600" cy="256032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</a:rPr>
              <a:t>OUR VISION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3258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VISION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663440" y="1965960"/>
            <a:ext cx="3200400" cy="45720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1031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8C4F0"/>
                </a:solidFill>
              </a:rPr>
              <a:t>To become a leading technology solutions provider in Zambia and beyond, recognized for excellence, integrity, and innovation.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🔭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9AB00"/>
                </a:solidFill>
              </a:rPr>
              <a:t>Looking further.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i="1" dirty="0">
                <a:solidFill>
                  <a:srgbClr val="F9AB00"/>
                </a:solidFill>
              </a:rPr>
              <a:t>Leading boldly.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864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Amias Technologies  |  Smart IT. Real Solutions.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503920" y="4864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E8F0FE">
              <a:alpha val="60000"/>
            </a:srgbClr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91440"/>
            <a:ext cx="1828800" cy="1828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00" y="2926080"/>
            <a:ext cx="4114800" cy="4114800"/>
          </a:xfrm>
          <a:prstGeom prst="ellipse">
            <a:avLst/>
          </a:prstGeom>
          <a:solidFill>
            <a:srgbClr val="E8F0FE">
              <a:alpha val="60000"/>
            </a:srgbClr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2011680" y="3474720"/>
            <a:ext cx="3200400" cy="3200400"/>
          </a:xfrm>
          <a:prstGeom prst="ellipse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0040"/>
            <a:ext cx="1371600" cy="256032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</a:rPr>
              <a:t>OUR MISSION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F3C"/>
                </a:solidFill>
              </a:rPr>
              <a:t>MISSION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8046720" cy="20116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82296" cy="2011680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508760"/>
            <a:ext cx="7589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"To provide smart, secure, and innovative technology solutions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that solve real-world business challenges."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611880"/>
            <a:ext cx="594360" cy="59436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Smart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6368"/>
                </a:solidFill>
              </a:rPr>
              <a:t>Intelligent, modern approaches to every challenge.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3611880"/>
            <a:ext cx="594360" cy="59436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0" y="4297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Secure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4572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6368"/>
                </a:solidFill>
              </a:rPr>
              <a:t>Safety and trust embedded in all our solutions.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23760" y="3611880"/>
            <a:ext cx="594360" cy="59436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4297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Innovative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4572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6368"/>
                </a:solidFill>
              </a:rPr>
              <a:t>Creative thinking to stay ahead of the curve.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Amias Technologies  |  Smart IT. Real Solutions.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503920" y="4864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371600" cy="256032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</a:rPr>
              <a:t>WHAT WE STAND FOR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C"/>
                </a:solidFill>
              </a:rPr>
              <a:t>Core Values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64008" cy="15087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27632"/>
            <a:ext cx="640080" cy="640080"/>
          </a:xfrm>
          <a:prstGeom prst="ellipse">
            <a:avLst/>
          </a:prstGeom>
          <a:solidFill>
            <a:srgbClr val="0D1F3C">
              <a:alpha val="15000"/>
            </a:srgbClr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27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</a:rPr>
              <a:t>Integrity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6368"/>
                </a:solidFill>
              </a:rPr>
              <a:t>Honest and transparent service delivery at every step.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280160"/>
            <a:ext cx="64008" cy="15087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1627632"/>
            <a:ext cx="640080" cy="640080"/>
          </a:xfrm>
          <a:prstGeom prst="ellipse">
            <a:avLst/>
          </a:prstGeom>
          <a:solidFill>
            <a:srgbClr val="1A73E8">
              <a:alpha val="15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627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5216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</a:rPr>
              <a:t>Innovation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6368"/>
                </a:solidFill>
              </a:rPr>
              <a:t>Modern, creative solutions to meet evolving challenges.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017520"/>
            <a:ext cx="64008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364992"/>
            <a:ext cx="640080" cy="64008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364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3273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</a:rPr>
              <a:t>Reliability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3611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6368"/>
                </a:solidFill>
              </a:rPr>
              <a:t>Consistent, high-quality support you can always count 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0175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017520"/>
            <a:ext cx="64008" cy="1508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74920" y="3364992"/>
            <a:ext cx="640080" cy="640080"/>
          </a:xfrm>
          <a:prstGeom prst="ellipse">
            <a:avLst/>
          </a:prstGeom>
          <a:solidFill>
            <a:srgbClr val="6D2E46">
              <a:alpha val="15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364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852160" y="3273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</a:rPr>
              <a:t>Customer Focus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52160" y="3611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6368"/>
                </a:solidFill>
              </a:rPr>
              <a:t>Your success is our ultimate measure of achievement.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64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Amias Technologies  |  Smart IT. Real Solutions.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503920" y="4864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E8F0FE">
              <a:alpha val="60000"/>
            </a:srgbClr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91440"/>
            <a:ext cx="1828800" cy="1828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"/>
            <a:ext cx="1371600" cy="256032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</a:rPr>
              <a:t>WHAT WE OFFER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C"/>
                </a:solidFill>
              </a:rPr>
              <a:t>Our Services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115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Comprehensive IT solutions to power your business forward.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2011680" cy="1417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7190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Software &amp; Web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Development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06040" y="1554480"/>
            <a:ext cx="2011680" cy="14173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17190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06040" y="23042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Mobile App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Development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554480"/>
            <a:ext cx="2011680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7190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0" y="23042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IT Consulting &amp;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Support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03720" y="1554480"/>
            <a:ext cx="2011680" cy="141732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17190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903720" y="23042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Networking &amp;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Systems Installation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2011680" cy="141732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3649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57200" y="395020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Cybersecurity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Solutions &amp; Training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06040" y="3200400"/>
            <a:ext cx="2011680" cy="141732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06040" y="33649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606040" y="395020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Cloud &amp; Digital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Transformation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200400"/>
            <a:ext cx="2011680" cy="1417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33649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754880" y="395020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Computer Repair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Maintenance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864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Amias Technologies  |  Smart IT. Real Solutions.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503920" y="4864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AB00"/>
                </a:solidFill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Software &amp;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Web Application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Development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4231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🖥️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2062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3C"/>
                </a:solidFill>
              </a:rPr>
              <a:t>What We Build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06240" y="868680"/>
            <a:ext cx="4389120" cy="2743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005840"/>
            <a:ext cx="201168" cy="20116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9875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Custom enterprise web applications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1600200"/>
            <a:ext cx="201168" cy="20116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5819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E-commerce platforms &amp; portals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2194560"/>
            <a:ext cx="201168" cy="20116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1762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Content Management Systems (CMS)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2788920"/>
            <a:ext cx="201168" cy="20116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27706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ERP &amp; business management systems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3383280"/>
            <a:ext cx="201168" cy="20116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3649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API development &amp; system integration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3977640"/>
            <a:ext cx="201168" cy="20116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39593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UI/UX design &amp; prototyping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06240" y="4663440"/>
            <a:ext cx="438912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4663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73E8"/>
                </a:solidFill>
              </a:rPr>
              <a:t>Serving businesses of all sizes across Zambia and the region.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Amias Technologies  |  Smart IT. Real Solutions.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E8F0FE">
              <a:alpha val="60000"/>
            </a:srgbClr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91440"/>
            <a:ext cx="1828800" cy="1828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73E8"/>
                </a:solidFill>
              </a:rPr>
              <a:t>02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3C"/>
                </a:solidFill>
              </a:rPr>
              <a:t>Mobile App Development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192024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3C"/>
                </a:solidFill>
              </a:rPr>
              <a:t>Android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5603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F6368"/>
                </a:solidFill>
              </a:rPr>
              <a:t>Native &amp; cross-platform Android apps built with latest SDK.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06040" y="155448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554480"/>
            <a:ext cx="192024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🍎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06040" y="21762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3C"/>
                </a:solidFill>
              </a:rPr>
              <a:t>iOS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25603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F6368"/>
                </a:solidFill>
              </a:rPr>
              <a:t>Seamless Apple iOS apps for iPhone and iPad.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55448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554480"/>
            <a:ext cx="192024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54880" y="21762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3C"/>
                </a:solidFill>
              </a:rPr>
              <a:t>Cross-Platform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5603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F6368"/>
                </a:solidFill>
              </a:rPr>
              <a:t>Single codebase apps using Flutter &amp; React Native.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03720" y="155448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554480"/>
            <a:ext cx="192024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3720" y="21762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3C"/>
                </a:solidFill>
              </a:rPr>
              <a:t>PWA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25603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F6368"/>
                </a:solidFill>
              </a:rPr>
              <a:t>Progressive Web Apps for instant mobile experiences.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1F3C"/>
                </a:solidFill>
              </a:rPr>
              <a:t>We deliver fast, secure, and intuitive mobile experiences your users will love.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Amias Technologies  |  Smart IT. Real Solutions.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926080"/>
            <a:ext cx="4114800" cy="4114800"/>
          </a:xfrm>
          <a:prstGeom prst="ellipse">
            <a:avLst/>
          </a:prstGeom>
          <a:solidFill>
            <a:srgbClr val="E8F0FE">
              <a:alpha val="60000"/>
            </a:srgbClr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3474720"/>
            <a:ext cx="3200400" cy="3200400"/>
          </a:xfrm>
          <a:prstGeom prst="ellipse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73E8"/>
                </a:solidFill>
              </a:rPr>
              <a:t>03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D1F3C"/>
                </a:solidFill>
              </a:rPr>
              <a:t>IT Consulting &amp;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D1F3C"/>
                </a:solidFill>
              </a:rPr>
              <a:t>Technical Support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6368"/>
                </a:solidFill>
              </a:rPr>
              <a:t>Expert guidance to help your business make the right technology decisions and keep operations running smoothly.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468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</a:rPr>
              <a:t>IT Strategy &amp; Planning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26700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</a:rPr>
              <a:t>Tailored IT roadmaps aligned with your business goals.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035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035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</a:rPr>
              <a:t>Hardware &amp; Software Support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323697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</a:rPr>
              <a:t>Fast resolution for technical issues, any platform.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602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📞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602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</a:rPr>
              <a:t>Help Desk Support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5840" y="380390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</a:rPr>
              <a:t>Responsive support for your team around the clock.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4169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169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</a:rPr>
              <a:t>System Upgrades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" y="43708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</a:rPr>
              <a:t>Seamless migrations and technology refresh programs.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52160" y="1371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24/7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Support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85216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C4F0"/>
                </a:solidFill>
              </a:rPr>
              <a:t>Always here when you need us.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Amias Technologies  |  Smart IT. Real Solutions.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62F58"/>
          </a:solidFill>
          <a:ln w="12700">
            <a:solidFill>
              <a:srgbClr val="162F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AB00"/>
                </a:solidFill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Networking &amp;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Systems Installation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4114800" cy="868680"/>
          </a:xfrm>
          <a:prstGeom prst="rect">
            <a:avLst/>
          </a:prstGeom>
          <a:solidFill>
            <a:srgbClr val="0D2A56"/>
          </a:solidFill>
          <a:ln w="9525">
            <a:solidFill>
              <a:srgbClr val="1A3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64008" cy="868680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965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LAN/WAN Setup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2240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F0"/>
                </a:solidFill>
              </a:rPr>
              <a:t>Enterprise-grade wired &amp; wireless network design and deployment.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4114800" cy="868680"/>
          </a:xfrm>
          <a:prstGeom prst="rect">
            <a:avLst/>
          </a:prstGeom>
          <a:solidFill>
            <a:srgbClr val="0D2A56"/>
          </a:solidFill>
          <a:ln w="9525">
            <a:solidFill>
              <a:srgbClr val="1A3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880360"/>
            <a:ext cx="64008" cy="868680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971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Server Installation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3246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F0"/>
                </a:solidFill>
              </a:rPr>
              <a:t>Windows Server, Linux server setup, configuration and management.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886200"/>
            <a:ext cx="4114800" cy="868680"/>
          </a:xfrm>
          <a:prstGeom prst="rect">
            <a:avLst/>
          </a:prstGeom>
          <a:solidFill>
            <a:srgbClr val="0D2A56"/>
          </a:solidFill>
          <a:ln w="9525">
            <a:solidFill>
              <a:srgbClr val="1A3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886200"/>
            <a:ext cx="64008" cy="868680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977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Structured Cabling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F0"/>
                </a:solidFill>
              </a:rPr>
              <a:t>Professional, tidy and standards-compliant structured cabling.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92040" y="1874520"/>
            <a:ext cx="4114800" cy="868680"/>
          </a:xfrm>
          <a:prstGeom prst="rect">
            <a:avLst/>
          </a:prstGeom>
          <a:solidFill>
            <a:srgbClr val="0D2A56"/>
          </a:solidFill>
          <a:ln w="9525">
            <a:solidFill>
              <a:srgbClr val="1A3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1874520"/>
            <a:ext cx="64008" cy="868680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1965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Network Security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56632" y="2240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F0"/>
                </a:solidFill>
              </a:rPr>
              <a:t>Firewall setup, VLAN segmentation, and intrusion detection.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92040" y="2880360"/>
            <a:ext cx="4114800" cy="868680"/>
          </a:xfrm>
          <a:prstGeom prst="rect">
            <a:avLst/>
          </a:prstGeom>
          <a:solidFill>
            <a:srgbClr val="0D2A56"/>
          </a:solidFill>
          <a:ln w="9525">
            <a:solidFill>
              <a:srgbClr val="1A3A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2880360"/>
            <a:ext cx="64008" cy="868680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56632" y="2971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CCTV &amp; Access Control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56632" y="3246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F0"/>
                </a:solidFill>
              </a:rPr>
              <a:t>Integrated surveillance and door access security systems.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92040" y="3886200"/>
            <a:ext cx="4114800" cy="868680"/>
          </a:xfrm>
          <a:prstGeom prst="rect">
            <a:avLst/>
          </a:prstGeom>
          <a:solidFill>
            <a:srgbClr val="0D2A56"/>
          </a:solidFill>
          <a:ln w="9525">
            <a:solidFill>
              <a:srgbClr val="1A3A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3886200"/>
            <a:ext cx="64008" cy="868680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56632" y="3977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Wireless Networks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56632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F0"/>
                </a:solidFill>
              </a:rPr>
              <a:t>High-performance Wi-Fi solutions for offices and campuses.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864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Amias Technologies  |  Smart IT. Real Solutions.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503920" y="4864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E8F0FE">
              <a:alpha val="60000"/>
            </a:srgbClr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91440"/>
            <a:ext cx="1828800" cy="1828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73E8"/>
                </a:solidFill>
              </a:rPr>
              <a:t>05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3C"/>
                </a:solidFill>
              </a:rPr>
              <a:t>Cybersecurity Solutions &amp; Training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Protecting your business assets, data, and reputation in a dangerous digital world.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2697480" cy="1371600"/>
          </a:xfrm>
          <a:prstGeom prst="rect">
            <a:avLst/>
          </a:prstGeom>
          <a:solidFill>
            <a:srgbClr val="0D1F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0195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23591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Security Audits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6334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C4F0"/>
                </a:solidFill>
              </a:rPr>
              <a:t>Identify vulnerabilities before attackers do.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29000" y="1737360"/>
            <a:ext cx="2697480" cy="1371600"/>
          </a:xfrm>
          <a:prstGeom prst="rect">
            <a:avLst/>
          </a:prstGeom>
          <a:solidFill>
            <a:srgbClr val="1A7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90195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3591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Firewall Solutions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6334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C4F0"/>
                </a:solidFill>
              </a:rPr>
              <a:t>Enterprise firewall deployment &amp; monitoring.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55080" y="1737360"/>
            <a:ext cx="2697480" cy="1371600"/>
          </a:xfrm>
          <a:prstGeom prst="rect">
            <a:avLst/>
          </a:prstGeom>
          <a:solidFill>
            <a:srgbClr val="0D1F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90195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55080" y="23591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Encryption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26334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C4F0"/>
                </a:solidFill>
              </a:rPr>
              <a:t>End-to-end encryption for sensitive data.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291840"/>
            <a:ext cx="2697480" cy="1371600"/>
          </a:xfrm>
          <a:prstGeom prst="rect">
            <a:avLst/>
          </a:prstGeom>
          <a:solidFill>
            <a:srgbClr val="1A7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5643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2920" y="39136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Security Training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1879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C4F0"/>
                </a:solidFill>
              </a:rPr>
              <a:t>Staff awareness programs to prevent breaches.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29000" y="3291840"/>
            <a:ext cx="2697480" cy="1371600"/>
          </a:xfrm>
          <a:prstGeom prst="rect">
            <a:avLst/>
          </a:prstGeom>
          <a:solidFill>
            <a:srgbClr val="0D1F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45643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429000" y="39136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Incident Response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20440" y="41879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C4F0"/>
                </a:solidFill>
              </a:rPr>
              <a:t>Fast reaction and recovery when threats occur.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55080" y="3291840"/>
            <a:ext cx="2697480" cy="1371600"/>
          </a:xfrm>
          <a:prstGeom prst="rect">
            <a:avLst/>
          </a:prstGeom>
          <a:solidFill>
            <a:srgbClr val="1A7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45643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355080" y="39136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Security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41879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C4F0"/>
                </a:solidFill>
              </a:rPr>
              <a:t>Securing your cloud infrastructure and apps.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64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Amias Technologies  |  Smart IT. Real Solutions.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503920" y="4864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087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3200400" cy="3200400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06  Cloud &amp; Digital Transformation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</a:rPr>
              <a:t>We guide businesses through the journey of embracing cloud technology and digital innovation.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4963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24048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Cloud Migration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27157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6368"/>
                </a:solidFill>
              </a:rPr>
              <a:t>Move your infrastructure to AWS, Azure, or Google Cloud safely.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224028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24963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715000" y="24048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SaaS Integration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15000" y="27157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6368"/>
                </a:solidFill>
              </a:rPr>
              <a:t>Connect and automate your business tools for maximum efficiency.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8221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3730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Digital Strategy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4041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6368"/>
                </a:solidFill>
              </a:rPr>
              <a:t>Build a roadmap for your digital future with our experts.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356616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38221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715000" y="3730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Backup &amp; Recovery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15000" y="4041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6368"/>
                </a:solidFill>
              </a:rPr>
              <a:t>Automated cloud backups and disaster recovery solutions.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64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Amias Technologies  |  Smart IT. Real Solutions.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503920" y="4864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926080"/>
            <a:ext cx="4114800" cy="4114800"/>
          </a:xfrm>
          <a:prstGeom prst="ellipse">
            <a:avLst/>
          </a:prstGeom>
          <a:solidFill>
            <a:srgbClr val="E8F0FE">
              <a:alpha val="60000"/>
            </a:srgbClr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3474720"/>
            <a:ext cx="3200400" cy="3200400"/>
          </a:xfrm>
          <a:prstGeom prst="ellipse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07  Computer Repair &amp; Maintenance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Fast, professional repair services to keep your equipment at peak performance.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2011680"/>
            <a:ext cx="685800" cy="6858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761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F3C"/>
                </a:solidFill>
              </a:rPr>
              <a:t>Laptop &amp; Desktop Repair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035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6368"/>
                </a:solidFill>
              </a:rPr>
              <a:t>Hardware diagnostics, screen replacements, and component repairs.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41648" y="2011680"/>
            <a:ext cx="685800" cy="6858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41648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🖨️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01568" y="2761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F3C"/>
                </a:solidFill>
              </a:rPr>
              <a:t>Printer &amp; Peripheral Support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01568" y="3035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6368"/>
                </a:solidFill>
              </a:rPr>
              <a:t>Printer setup, troubleshooting, and peripheral maintenance.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86016" y="2011680"/>
            <a:ext cx="685800" cy="6858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86016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45936" y="2761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F3C"/>
                </a:solidFill>
              </a:rPr>
              <a:t>OS Installation &amp; Recovery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45936" y="3035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6368"/>
                </a:solidFill>
              </a:rPr>
              <a:t>Windows, Linux installation, data recovery and backup.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97280" y="3429000"/>
            <a:ext cx="685800" cy="6858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429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🧹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4178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F3C"/>
                </a:solidFill>
              </a:rPr>
              <a:t>Preventive Maintenance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453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6368"/>
                </a:solidFill>
              </a:rPr>
              <a:t>Scheduled cleaning, updates, and performance optimisation.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41648" y="3429000"/>
            <a:ext cx="685800" cy="6858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41648" y="3429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401568" y="4178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F3C"/>
                </a:solidFill>
              </a:rPr>
              <a:t>Software Installation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01568" y="4453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6368"/>
                </a:solidFill>
              </a:rPr>
              <a:t>Licensed software deployment and configuration services.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86016" y="3429000"/>
            <a:ext cx="685800" cy="6858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86016" y="3429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345936" y="4178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F3C"/>
                </a:solidFill>
              </a:rPr>
              <a:t>Network Troubleshooting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45936" y="4453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6368"/>
                </a:solidFill>
              </a:rPr>
              <a:t>Resolve connectivity issues and optimise network performance.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864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Amias Technologies  |  Smart IT. Real Solutions.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503920" y="4864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62F58"/>
          </a:solidFill>
          <a:ln w="12700">
            <a:solidFill>
              <a:srgbClr val="162F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C4F0"/>
                </a:solidFill>
              </a:rPr>
              <a:t>Why Choose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Amias Technologies?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2697480" cy="1371600"/>
          </a:xfrm>
          <a:prstGeom prst="rect">
            <a:avLst/>
          </a:prstGeom>
          <a:solidFill>
            <a:srgbClr val="0D2A56"/>
          </a:solidFill>
          <a:ln w="6350">
            <a:solidFill>
              <a:srgbClr val="1A4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2697480" cy="73152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6479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Client-First Approach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4871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C4F0"/>
                </a:solidFill>
              </a:rPr>
              <a:t>We tailor every solution to your exact business needs.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1600200"/>
            <a:ext cx="2697480" cy="1371600"/>
          </a:xfrm>
          <a:prstGeom prst="rect">
            <a:avLst/>
          </a:prstGeom>
          <a:solidFill>
            <a:srgbClr val="0D2A56"/>
          </a:solidFill>
          <a:ln w="6350">
            <a:solidFill>
              <a:srgbClr val="1A4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600200"/>
            <a:ext cx="2697480" cy="73152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76479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194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Local Expertise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20440" y="24871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C4F0"/>
                </a:solidFill>
              </a:rPr>
              <a:t>Deep knowledge of the Zambian market and environment.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55080" y="1600200"/>
            <a:ext cx="2697480" cy="1371600"/>
          </a:xfrm>
          <a:prstGeom prst="rect">
            <a:avLst/>
          </a:prstGeom>
          <a:solidFill>
            <a:srgbClr val="0D2A56"/>
          </a:solidFill>
          <a:ln w="6350">
            <a:solidFill>
              <a:srgbClr val="1A4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1600200"/>
            <a:ext cx="2697480" cy="73152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76479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2194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Fast Turnaround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46520" y="24871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C4F0"/>
                </a:solidFill>
              </a:rPr>
              <a:t>Efficient project delivery without compromising quality.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200400"/>
            <a:ext cx="2697480" cy="1371600"/>
          </a:xfrm>
          <a:prstGeom prst="rect">
            <a:avLst/>
          </a:prstGeom>
          <a:solidFill>
            <a:srgbClr val="0D2A56"/>
          </a:solidFill>
          <a:ln w="6350">
            <a:solidFill>
              <a:srgbClr val="1A4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200400"/>
            <a:ext cx="2697480" cy="73152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36499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" y="3794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Competitive Pricing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40873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C4F0"/>
                </a:solidFill>
              </a:rPr>
              <a:t>Premium IT services at accessible, transparent rates.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29000" y="3200400"/>
            <a:ext cx="2697480" cy="1371600"/>
          </a:xfrm>
          <a:prstGeom prst="rect">
            <a:avLst/>
          </a:prstGeom>
          <a:solidFill>
            <a:srgbClr val="0D2A56"/>
          </a:solidFill>
          <a:ln w="6350">
            <a:solidFill>
              <a:srgbClr val="1A4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3200400"/>
            <a:ext cx="2697480" cy="73152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336499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429000" y="3794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Long-term Partnership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20440" y="40873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C4F0"/>
                </a:solidFill>
              </a:rPr>
              <a:t>We grow with you — not just fix and leave.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55080" y="3200400"/>
            <a:ext cx="2697480" cy="1371600"/>
          </a:xfrm>
          <a:prstGeom prst="rect">
            <a:avLst/>
          </a:prstGeom>
          <a:solidFill>
            <a:srgbClr val="0D2A56"/>
          </a:solidFill>
          <a:ln w="6350">
            <a:solidFill>
              <a:srgbClr val="1A4A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3200400"/>
            <a:ext cx="2697480" cy="73152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336499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55080" y="3794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Proven Results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46520" y="40873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C4F0"/>
                </a:solidFill>
              </a:rPr>
              <a:t>A track record of delivering successful IT projects.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64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Amias Technologies  |  Smart IT. Real Solutions.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503920" y="4864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E8F0FE">
              <a:alpha val="60000"/>
            </a:srgbClr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91440"/>
            <a:ext cx="1828800" cy="1828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"/>
            <a:ext cx="1371600" cy="256032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</a:rPr>
              <a:t>HOW WE WORK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C"/>
                </a:solidFill>
              </a:rPr>
              <a:t>Our Process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600200" y="1965960"/>
            <a:ext cx="548640" cy="3657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371600"/>
            <a:ext cx="1005840" cy="1005840"/>
          </a:xfrm>
          <a:prstGeom prst="ellipse">
            <a:avLst/>
          </a:prstGeom>
          <a:solidFill>
            <a:srgbClr val="0D1F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Discovery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816352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F6368"/>
                </a:solidFill>
              </a:rPr>
              <a:t>We listen and understand your business needs, goals and pain points.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1965960"/>
            <a:ext cx="548640" cy="3657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1371600"/>
            <a:ext cx="1005840" cy="100584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4884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Planning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48840" y="2816352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F6368"/>
                </a:solidFill>
              </a:rPr>
              <a:t>We design a tailored solution strategy, timeline and budget.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83480" y="1965960"/>
            <a:ext cx="548640" cy="3657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69080" y="1371600"/>
            <a:ext cx="1005840" cy="1005840"/>
          </a:xfrm>
          <a:prstGeom prst="ellipse">
            <a:avLst/>
          </a:prstGeom>
          <a:solidFill>
            <a:srgbClr val="0D1F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4048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Development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2816352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F6368"/>
                </a:solidFill>
              </a:rPr>
              <a:t>Our team builds, configures and tests your solution rigorously.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75120" y="1965960"/>
            <a:ext cx="548640" cy="3657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0" y="1371600"/>
            <a:ext cx="1005840" cy="100584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3212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32120" y="2816352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F6368"/>
                </a:solidFill>
              </a:rPr>
              <a:t>We launch, migrate and install with minimal disruption.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52360" y="1371600"/>
            <a:ext cx="1005840" cy="1005840"/>
          </a:xfrm>
          <a:prstGeom prst="ellipse">
            <a:avLst/>
          </a:prstGeom>
          <a:solidFill>
            <a:srgbClr val="0D1F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5236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22376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Support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23760" y="2816352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F6368"/>
                </a:solidFill>
              </a:rPr>
              <a:t>Ongoing maintenance, training and support to ensure success.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864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Amias Technologies  |  Smart IT. Real Solutions.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503920" y="4864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Goals &amp;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1605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013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Regional Expansion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9842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6368"/>
                </a:solidFill>
              </a:rPr>
              <a:t>Grow our footprint beyond Zambia into Southern and Eastern Africa within 3 years.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92040" y="1600200"/>
            <a:ext cx="41605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8013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Enterprise Clients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9842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6368"/>
                </a:solidFill>
              </a:rPr>
              <a:t>Secure partnerships with 50+ medium and large enterprises in the next 2 years.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41605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8986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Skills Development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308152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6368"/>
                </a:solidFill>
              </a:rPr>
              <a:t>Train 200+ individuals in IT skills annually through our training programs.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92040" y="2697480"/>
            <a:ext cx="41605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28986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Cybersecurity Leadership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308152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6368"/>
                </a:solidFill>
              </a:rPr>
              <a:t>Become the #1 cybersecurity training provider in Zambia.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41605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9959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444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Product Innovation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417880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6368"/>
                </a:solidFill>
              </a:rPr>
              <a:t>Launch 3 locally-built SaaS products tailored to African businesses.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3794760"/>
            <a:ext cx="41605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83480" y="39959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66928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Community Impact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417880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6368"/>
                </a:solidFill>
              </a:rPr>
              <a:t>Support 30 SMEs annually with subsidised technology solutions.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864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Amias Technologies  |  Smart IT. Real Solutions.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503920" y="4864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E8F0FE">
              <a:alpha val="60000"/>
            </a:srgbClr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91440"/>
            <a:ext cx="1828800" cy="1828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"/>
            <a:ext cx="1371600" cy="256032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</a:rPr>
              <a:t>TARGET MARKET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C"/>
                </a:solidFill>
              </a:rPr>
              <a:t>Market Focus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4114800" cy="33832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89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Market Segments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</a:rPr>
              <a:t>SMEs &amp; Startups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084832"/>
            <a:ext cx="1426464" cy="23774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20848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F3C"/>
                </a:solidFill>
              </a:rPr>
              <a:t>40%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2542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</a:rPr>
              <a:t>Government &amp; NGOs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2798064"/>
            <a:ext cx="891540" cy="23774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23060" y="27980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3E8"/>
                </a:solidFill>
              </a:rPr>
              <a:t>25%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325526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</a:rPr>
              <a:t>Education Sector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3511296"/>
            <a:ext cx="713232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4752" y="35112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20%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39684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</a:rPr>
              <a:t>Healthcare &amp; Clinics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4224528"/>
            <a:ext cx="534924" cy="237744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6444" y="4224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AB00"/>
                </a:solidFill>
              </a:rPr>
              <a:t>15%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0" y="1280160"/>
            <a:ext cx="3749040" cy="749808"/>
          </a:xfrm>
          <a:prstGeom prst="rect">
            <a:avLst/>
          </a:prstGeom>
          <a:solidFill>
            <a:srgbClr val="0D1F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3350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Lusaka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120640" y="16916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F0"/>
                </a:solidFill>
              </a:rPr>
              <a:t>HQ Location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2194560"/>
            <a:ext cx="3749040" cy="749808"/>
          </a:xfrm>
          <a:prstGeom prst="rect">
            <a:avLst/>
          </a:prstGeom>
          <a:solidFill>
            <a:srgbClr val="1A7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2494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Zambia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120640" y="26060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F0"/>
                </a:solidFill>
              </a:rPr>
              <a:t>Primary Market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3108960"/>
            <a:ext cx="3749040" cy="749808"/>
          </a:xfrm>
          <a:prstGeom prst="rect">
            <a:avLst/>
          </a:prstGeom>
          <a:solidFill>
            <a:srgbClr val="0D1F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1638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SADC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120640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F0"/>
                </a:solidFill>
              </a:rPr>
              <a:t>Target Region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0" y="4023360"/>
            <a:ext cx="3749040" cy="749808"/>
          </a:xfrm>
          <a:prstGeom prst="rect">
            <a:avLst/>
          </a:prstGeom>
          <a:solidFill>
            <a:srgbClr val="1A7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40782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B2B+B2C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120640" y="44348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F0"/>
                </a:solidFill>
              </a:rPr>
              <a:t>Business Model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864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Amias Technologies  |  Smart IT. Real Solutions.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62F58"/>
          </a:solidFill>
          <a:ln w="12700">
            <a:solidFill>
              <a:srgbClr val="162F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Our Technology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F0"/>
                </a:solidFill>
              </a:rPr>
              <a:t>We work with leading technologies to deliver world-class solutions.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60520" cy="713232"/>
          </a:xfrm>
          <a:prstGeom prst="rect">
            <a:avLst/>
          </a:prstGeom>
          <a:solidFill>
            <a:srgbClr val="0D2A56"/>
          </a:solidFill>
          <a:ln w="6350">
            <a:solidFill>
              <a:srgbClr val="1A4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71323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904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Frontend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17647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0"/>
                </a:solidFill>
              </a:rPr>
              <a:t>React.js  •  Vue.js  •  Angular  •  Flutter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92040" y="1417320"/>
            <a:ext cx="4160520" cy="713232"/>
          </a:xfrm>
          <a:prstGeom prst="rect">
            <a:avLst/>
          </a:prstGeom>
          <a:solidFill>
            <a:srgbClr val="0D2A56"/>
          </a:solidFill>
          <a:ln w="6350">
            <a:solidFill>
              <a:srgbClr val="1A4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417320"/>
            <a:ext cx="54864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56632" y="14904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Backend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56632" y="17647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0"/>
                </a:solidFill>
              </a:rPr>
              <a:t>Node.js  •  Python  •  PHP  •  .NET  •  Java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4160520" cy="713232"/>
          </a:xfrm>
          <a:prstGeom prst="rect">
            <a:avLst/>
          </a:prstGeom>
          <a:solidFill>
            <a:srgbClr val="0D2A56"/>
          </a:solidFill>
          <a:ln w="6350">
            <a:solidFill>
              <a:srgbClr val="1A4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286000"/>
            <a:ext cx="54864" cy="71323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3591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Mobile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1792" y="2633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0"/>
                </a:solidFill>
              </a:rPr>
              <a:t>Flutter  •  React Native  •  Kotlin  •  Swift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92040" y="2286000"/>
            <a:ext cx="4160520" cy="713232"/>
          </a:xfrm>
          <a:prstGeom prst="rect">
            <a:avLst/>
          </a:prstGeom>
          <a:solidFill>
            <a:srgbClr val="0D2A56"/>
          </a:solidFill>
          <a:ln w="6350">
            <a:solidFill>
              <a:srgbClr val="1A4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2286000"/>
            <a:ext cx="54864" cy="71323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23591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Cloud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56632" y="2633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0"/>
                </a:solidFill>
              </a:rPr>
              <a:t>AWS  •  Microsoft Azure  •  Google Cloud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4160520" cy="713232"/>
          </a:xfrm>
          <a:prstGeom prst="rect">
            <a:avLst/>
          </a:prstGeom>
          <a:solidFill>
            <a:srgbClr val="0D2A56"/>
          </a:solidFill>
          <a:ln w="6350">
            <a:solidFill>
              <a:srgbClr val="1A4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154680"/>
            <a:ext cx="54864" cy="7132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2278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Databases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" y="35021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0"/>
                </a:solidFill>
              </a:rPr>
              <a:t>MySQL  •  PostgreSQL  •  MongoDB  •  Firebase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3154680"/>
            <a:ext cx="4160520" cy="713232"/>
          </a:xfrm>
          <a:prstGeom prst="rect">
            <a:avLst/>
          </a:prstGeom>
          <a:solidFill>
            <a:srgbClr val="0D2A56"/>
          </a:solidFill>
          <a:ln w="6350">
            <a:solidFill>
              <a:srgbClr val="1A4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3154680"/>
            <a:ext cx="54864" cy="71323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56632" y="32278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Security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56632" y="35021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0"/>
                </a:solidFill>
              </a:rPr>
              <a:t>Fortinet  •  Palo Alto  •  Sophos  •  Cisco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023360"/>
            <a:ext cx="4160520" cy="713232"/>
          </a:xfrm>
          <a:prstGeom prst="rect">
            <a:avLst/>
          </a:prstGeom>
          <a:solidFill>
            <a:srgbClr val="0D2A56"/>
          </a:solidFill>
          <a:ln w="6350">
            <a:solidFill>
              <a:srgbClr val="1A4A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023360"/>
            <a:ext cx="54864" cy="7132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4096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OS &amp; Servers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" y="4370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0"/>
                </a:solidFill>
              </a:rPr>
              <a:t>Windows Server  •  Ubuntu  •  CentOS  •  RHEL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92040" y="4023360"/>
            <a:ext cx="4160520" cy="713232"/>
          </a:xfrm>
          <a:prstGeom prst="rect">
            <a:avLst/>
          </a:prstGeom>
          <a:solidFill>
            <a:srgbClr val="0D2A56"/>
          </a:solidFill>
          <a:ln w="6350">
            <a:solidFill>
              <a:srgbClr val="1A4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023360"/>
            <a:ext cx="54864" cy="713232"/>
          </a:xfrm>
          <a:prstGeom prst="rect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56632" y="4096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Productivity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56632" y="4370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0"/>
                </a:solidFill>
              </a:rPr>
              <a:t>Microsoft 365  •  Google Workspace  •  Zoho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864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Amias Technologies  |  Smart IT. Real Solutions.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503920" y="4864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A7C7"/>
                </a:solidFill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D2A56"/>
          </a:solidFill>
          <a:ln w="12700">
            <a:solidFill>
              <a:srgbClr val="0D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657600"/>
            <a:ext cx="3200400" cy="3200400"/>
          </a:xfrm>
          <a:prstGeom prst="ellipse">
            <a:avLst/>
          </a:prstGeom>
          <a:solidFill>
            <a:srgbClr val="162F58"/>
          </a:solidFill>
          <a:ln w="12700">
            <a:solidFill>
              <a:srgbClr val="162F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457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LET'S BUILD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0" y="98755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SOMETHING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0" y="15087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AB00"/>
                </a:solidFill>
              </a:rPr>
              <a:t>GREAT TOGETHER.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0" y="2148840"/>
            <a:ext cx="3657600" cy="3657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23317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AB00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04688" y="23591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F0"/>
                </a:solidFill>
              </a:rPr>
              <a:t>info@amiastechnologies.com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0" y="28803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AB00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04688" y="29077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F0"/>
                </a:solidFill>
              </a:rPr>
              <a:t>+260 777 272 528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0" y="34290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AB00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04688" y="34564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F0"/>
                </a:solidFill>
              </a:rPr>
              <a:t>www.amiastechnologies.com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0" y="39776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AB00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04688" y="40050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F0"/>
                </a:solidFill>
              </a:rPr>
              <a:t>Lusaka, Zambia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12801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</a:rPr>
              <a:t>Smart IT.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" y="1783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9AB00"/>
                </a:solidFill>
              </a:rPr>
              <a:t>Real Solutions.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" y="2468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F0"/>
                </a:solidFill>
              </a:rPr>
              <a:t>Amias Technologies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7889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F0"/>
                </a:solidFill>
              </a:rPr>
              <a:t>Information Technology Services Provider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Amias Technologies – Company Profile</dc:title>
  <dc:subject>PptxGenJS Presentation</dc:subject>
  <dc:creator>PptxGenJS</dc:creator>
  <cp:lastModifiedBy>PptxGenJS</cp:lastModifiedBy>
  <cp:revision>1</cp:revision>
  <dcterms:created xsi:type="dcterms:W3CDTF">2026-02-17T14:44:58Z</dcterms:created>
  <dcterms:modified xsi:type="dcterms:W3CDTF">2026-02-17T14:44:58Z</dcterms:modified>
</cp:coreProperties>
</file>